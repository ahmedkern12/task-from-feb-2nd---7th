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000000"/>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45920" y="653760"/>
            <a:ext cx="4955040" cy="1810800"/>
          </a:xfrm>
          <a:prstGeom prst="rect">
            <a:avLst/>
          </a:prstGeom>
          <a:noFill/>
          <a:ln w="0">
            <a:noFill/>
          </a:ln>
        </p:spPr>
        <p:txBody>
          <a:bodyPr lIns="91440" tIns="91440" rIns="91440" bIns="91440" anchor="b">
            <a:noAutofit/>
          </a:bodyPr>
          <a:lstStyle/>
          <a:p>
            <a:pPr indent="0">
              <a:buNone/>
            </a:pPr>
            <a:r>
              <a:rPr lang="fr-FR" sz="5700" b="0" u="none" strike="noStrike">
                <a:solidFill>
                  <a:schemeClr val="dk1"/>
                </a:solidFill>
                <a:effectLst/>
                <a:uFillTx/>
                <a:latin typeface="Arial"/>
              </a:rPr>
              <a:t>Click to edit the title text format</a:t>
            </a:r>
          </a:p>
        </p:txBody>
      </p:sp>
      <p:sp>
        <p:nvSpPr>
          <p:cNvPr id="5" name="PlaceHolder 2"/>
          <p:cNvSpPr>
            <a:spLocks noGrp="1"/>
          </p:cNvSpPr>
          <p:nvPr>
            <p:ph type="body"/>
          </p:nvPr>
        </p:nvSpPr>
        <p:spPr>
          <a:xfrm>
            <a:off x="6079680" y="0"/>
            <a:ext cx="3063960" cy="514332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cxnSp>
        <p:nvCxnSpPr>
          <p:cNvPr id="2" name="Google Shape;12;p2"/>
          <p:cNvCxnSpPr/>
          <p:nvPr/>
        </p:nvCxnSpPr>
        <p:spPr>
          <a:xfrm>
            <a:off x="450360" y="525240"/>
            <a:ext cx="360" cy="2068200"/>
          </a:xfrm>
          <a:prstGeom prst="straightConnector1">
            <a:avLst/>
          </a:prstGeom>
          <a:ln w="19050">
            <a:solidFill>
              <a:srgbClr val="707070"/>
            </a:solidFill>
            <a:round/>
          </a:ln>
        </p:spPr>
      </p:cxnSp>
      <p:cxnSp>
        <p:nvCxnSpPr>
          <p:cNvPr id="3" name="Google Shape;13;p2"/>
          <p:cNvCxnSpPr/>
          <p:nvPr/>
        </p:nvCxnSpPr>
        <p:spPr>
          <a:xfrm>
            <a:off x="450360" y="3868560"/>
            <a:ext cx="360" cy="651960"/>
          </a:xfrm>
          <a:prstGeom prst="straightConnector1">
            <a:avLst/>
          </a:prstGeom>
          <a:ln w="19050">
            <a:solidFill>
              <a:srgbClr val="707070"/>
            </a:solidFill>
            <a:roun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rgbClr val="000000"/>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accent1"/>
                </a:solidFill>
                <a:effectLst/>
                <a:uFillTx/>
                <a:latin typeface="Inter"/>
                <a:ea typeface="Inter"/>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rgbClr val="000000"/>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720000" y="437040"/>
            <a:ext cx="79988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435960" y="36694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7" name="PlaceHolder 3"/>
          <p:cNvSpPr>
            <a:spLocks noGrp="1"/>
          </p:cNvSpPr>
          <p:nvPr>
            <p:ph type="title"/>
          </p:nvPr>
        </p:nvSpPr>
        <p:spPr>
          <a:xfrm>
            <a:off x="435960" y="23770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8" name="PlaceHolder 4"/>
          <p:cNvSpPr>
            <a:spLocks noGrp="1"/>
          </p:cNvSpPr>
          <p:nvPr>
            <p:ph type="title"/>
          </p:nvPr>
        </p:nvSpPr>
        <p:spPr>
          <a:xfrm>
            <a:off x="436680" y="1730880"/>
            <a:ext cx="86400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9" name="PlaceHolder 5"/>
          <p:cNvSpPr>
            <a:spLocks noGrp="1"/>
          </p:cNvSpPr>
          <p:nvPr>
            <p:ph type="title"/>
          </p:nvPr>
        </p:nvSpPr>
        <p:spPr>
          <a:xfrm>
            <a:off x="435960" y="30232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10" name="PlaceHolder 6"/>
          <p:cNvSpPr>
            <a:spLocks noGrp="1"/>
          </p:cNvSpPr>
          <p:nvPr>
            <p:ph type="title"/>
          </p:nvPr>
        </p:nvSpPr>
        <p:spPr>
          <a:xfrm>
            <a:off x="4192920" y="23770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11" name="PlaceHolder 7"/>
          <p:cNvSpPr>
            <a:spLocks noGrp="1"/>
          </p:cNvSpPr>
          <p:nvPr>
            <p:ph type="title"/>
          </p:nvPr>
        </p:nvSpPr>
        <p:spPr>
          <a:xfrm>
            <a:off x="4192920" y="30232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12" name="PlaceHolder 8"/>
          <p:cNvSpPr>
            <a:spLocks noGrp="1"/>
          </p:cNvSpPr>
          <p:nvPr>
            <p:ph type="title"/>
          </p:nvPr>
        </p:nvSpPr>
        <p:spPr>
          <a:xfrm>
            <a:off x="4192920" y="36694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
        <p:nvSpPr>
          <p:cNvPr id="13" name="PlaceHolder 9"/>
          <p:cNvSpPr>
            <a:spLocks noGrp="1"/>
          </p:cNvSpPr>
          <p:nvPr>
            <p:ph type="title"/>
          </p:nvPr>
        </p:nvSpPr>
        <p:spPr>
          <a:xfrm>
            <a:off x="4192920" y="17308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200" b="0" u="none" strike="noStrike">
                <a:solidFill>
                  <a:schemeClr val="dk1"/>
                </a:solidFill>
                <a:effectLst/>
                <a:uFillTx/>
                <a:latin typeface="Inter"/>
                <a:ea typeface="Inter"/>
              </a:rPr>
              <a:t>xx%</a:t>
            </a:r>
            <a:endParaRPr lang="fr-FR" sz="22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00000"/>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720000" y="444960"/>
            <a:ext cx="8195040" cy="6980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15" name="Google Shape;70;p14"/>
          <p:cNvCxnSpPr/>
          <p:nvPr/>
        </p:nvCxnSpPr>
        <p:spPr>
          <a:xfrm>
            <a:off x="593640" y="464400"/>
            <a:ext cx="360" cy="756000"/>
          </a:xfrm>
          <a:prstGeom prst="straightConnector1">
            <a:avLst/>
          </a:prstGeom>
          <a:ln w="19050">
            <a:solidFill>
              <a:srgbClr val="707070"/>
            </a:solidFill>
            <a:round/>
          </a:ln>
        </p:spPr>
      </p:cxnSp>
      <p:cxnSp>
        <p:nvCxnSpPr>
          <p:cNvPr id="16" name="Google Shape;71;p14"/>
          <p:cNvCxnSpPr/>
          <p:nvPr/>
        </p:nvCxnSpPr>
        <p:spPr>
          <a:xfrm>
            <a:off x="3100320" y="2306880"/>
            <a:ext cx="360" cy="2637720"/>
          </a:xfrm>
          <a:prstGeom prst="straightConnector1">
            <a:avLst/>
          </a:prstGeom>
          <a:ln w="19050">
            <a:solidFill>
              <a:srgbClr val="707070"/>
            </a:solidFill>
            <a:round/>
          </a:ln>
        </p:spPr>
      </p:cxn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rgbClr val="000000"/>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720000" y="444960"/>
            <a:ext cx="465804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720000" y="2840760"/>
            <a:ext cx="4658040" cy="1998720"/>
          </a:xfrm>
          <a:prstGeom prst="rect">
            <a:avLst/>
          </a:prstGeom>
          <a:noFill/>
          <a:ln w="0">
            <a:noFill/>
          </a:ln>
        </p:spPr>
        <p:txBody>
          <a:bodyPr lIns="91440" tIns="91440" rIns="91440" bIns="91440" anchor="b">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
        <p:nvSpPr>
          <p:cNvPr id="20"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cxnSp>
        <p:nvCxnSpPr>
          <p:cNvPr id="21" name="Google Shape;76;p15"/>
          <p:cNvCxnSpPr/>
          <p:nvPr/>
        </p:nvCxnSpPr>
        <p:spPr>
          <a:xfrm>
            <a:off x="450360" y="540360"/>
            <a:ext cx="360" cy="1255320"/>
          </a:xfrm>
          <a:prstGeom prst="straightConnector1">
            <a:avLst/>
          </a:prstGeom>
          <a:ln w="19050">
            <a:solidFill>
              <a:srgbClr val="707070"/>
            </a:solidFill>
            <a:round/>
          </a:ln>
        </p:spPr>
      </p:cxnSp>
      <p:cxnSp>
        <p:nvCxnSpPr>
          <p:cNvPr id="22" name="Google Shape;77;p15"/>
          <p:cNvCxnSpPr/>
          <p:nvPr/>
        </p:nvCxnSpPr>
        <p:spPr>
          <a:xfrm>
            <a:off x="450360" y="2873520"/>
            <a:ext cx="360" cy="1816560"/>
          </a:xfrm>
          <a:prstGeom prst="straightConnector1">
            <a:avLst/>
          </a:prstGeom>
          <a:ln w="19050">
            <a:solidFill>
              <a:srgbClr val="707070"/>
            </a:solidFill>
            <a:roun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rgbClr val="000000"/>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rgbClr val="000000"/>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720000" y="2783160"/>
            <a:ext cx="67860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25" name="PlaceHolder 2"/>
          <p:cNvSpPr>
            <a:spLocks noGrp="1"/>
          </p:cNvSpPr>
          <p:nvPr>
            <p:ph type="title"/>
          </p:nvPr>
        </p:nvSpPr>
        <p:spPr>
          <a:xfrm>
            <a:off x="720000" y="1476000"/>
            <a:ext cx="67752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26" name="PlaceHolder 3"/>
          <p:cNvSpPr>
            <a:spLocks noGrp="1"/>
          </p:cNvSpPr>
          <p:nvPr>
            <p:ph type="title"/>
          </p:nvPr>
        </p:nvSpPr>
        <p:spPr>
          <a:xfrm>
            <a:off x="720000" y="4090680"/>
            <a:ext cx="67860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27" name="PlaceHolder 4"/>
          <p:cNvSpPr>
            <a:spLocks noGrp="1"/>
          </p:cNvSpPr>
          <p:nvPr>
            <p:ph type="title"/>
          </p:nvPr>
        </p:nvSpPr>
        <p:spPr>
          <a:xfrm>
            <a:off x="720000" y="44496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pic>
        <p:nvPicPr>
          <p:cNvPr id="28" name="Google Shape;88;p17"/>
          <p:cNvPicPr/>
          <p:nvPr/>
        </p:nvPicPr>
        <p:blipFill>
          <a:blip r:embed="rId2"/>
          <a:srcRect l="51143" b="-897"/>
          <a:stretch/>
        </p:blipFill>
        <p:spPr>
          <a:xfrm>
            <a:off x="7400160" y="2520"/>
            <a:ext cx="1743480" cy="514332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rgbClr val="000000"/>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30" name="PlaceHolder 2"/>
          <p:cNvSpPr>
            <a:spLocks noGrp="1"/>
          </p:cNvSpPr>
          <p:nvPr>
            <p:ph type="title"/>
          </p:nvPr>
        </p:nvSpPr>
        <p:spPr>
          <a:xfrm>
            <a:off x="6437160" y="334620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31" name="PlaceHolder 3"/>
          <p:cNvSpPr>
            <a:spLocks noGrp="1"/>
          </p:cNvSpPr>
          <p:nvPr>
            <p:ph type="title"/>
          </p:nvPr>
        </p:nvSpPr>
        <p:spPr>
          <a:xfrm>
            <a:off x="6437160" y="161820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32" name="PlaceHolder 4"/>
          <p:cNvSpPr>
            <a:spLocks noGrp="1"/>
          </p:cNvSpPr>
          <p:nvPr>
            <p:ph type="title"/>
          </p:nvPr>
        </p:nvSpPr>
        <p:spPr>
          <a:xfrm>
            <a:off x="3579480" y="1618200"/>
            <a:ext cx="86400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33" name="PlaceHolder 5"/>
          <p:cNvSpPr>
            <a:spLocks noGrp="1"/>
          </p:cNvSpPr>
          <p:nvPr>
            <p:ph type="title"/>
          </p:nvPr>
        </p:nvSpPr>
        <p:spPr>
          <a:xfrm>
            <a:off x="3578760" y="334620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34" name="PlaceHolder 6"/>
          <p:cNvSpPr>
            <a:spLocks noGrp="1"/>
          </p:cNvSpPr>
          <p:nvPr>
            <p:ph type="title"/>
          </p:nvPr>
        </p:nvSpPr>
        <p:spPr>
          <a:xfrm>
            <a:off x="720000" y="161820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
        <p:nvSpPr>
          <p:cNvPr id="35" name="PlaceHolder 7"/>
          <p:cNvSpPr>
            <a:spLocks noGrp="1"/>
          </p:cNvSpPr>
          <p:nvPr>
            <p:ph type="title"/>
          </p:nvPr>
        </p:nvSpPr>
        <p:spPr>
          <a:xfrm>
            <a:off x="720000" y="3346200"/>
            <a:ext cx="865440" cy="310320"/>
          </a:xfrm>
          <a:prstGeom prst="rect">
            <a:avLst/>
          </a:prstGeom>
          <a:noFill/>
          <a:ln w="0">
            <a:noFill/>
          </a:ln>
        </p:spPr>
        <p:txBody>
          <a:bodyPr lIns="91440" tIns="91440" rIns="91440" bIns="91440" anchor="ctr">
            <a:noAutofit/>
          </a:bodyPr>
          <a:lstStyle/>
          <a:p>
            <a:pPr indent="0">
              <a:lnSpc>
                <a:spcPct val="100000"/>
              </a:lnSpc>
              <a:buNone/>
            </a:pPr>
            <a:r>
              <a:rPr lang="fr-FR" sz="2000" b="0" u="none" strike="noStrike">
                <a:solidFill>
                  <a:schemeClr val="dk1"/>
                </a:solidFill>
                <a:effectLst/>
                <a:uFillTx/>
                <a:latin typeface="Inter"/>
                <a:ea typeface="Inter"/>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rgbClr val="000000"/>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1036800" y="849240"/>
            <a:ext cx="5447520" cy="7545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dk1"/>
                </a:solidFill>
                <a:effectLst/>
                <a:uFillTx/>
                <a:latin typeface="Inter"/>
                <a:ea typeface="Inter"/>
              </a:rPr>
              <a:t>xx%</a:t>
            </a:r>
            <a:endParaRPr lang="fr-FR" sz="4500" b="0" u="none" strike="noStrike">
              <a:solidFill>
                <a:schemeClr val="dk1"/>
              </a:solidFill>
              <a:effectLst/>
              <a:uFillTx/>
              <a:latin typeface="Arial"/>
            </a:endParaRPr>
          </a:p>
        </p:txBody>
      </p:sp>
      <p:sp>
        <p:nvSpPr>
          <p:cNvPr id="37" name="PlaceHolder 2"/>
          <p:cNvSpPr>
            <a:spLocks noGrp="1"/>
          </p:cNvSpPr>
          <p:nvPr>
            <p:ph type="title"/>
          </p:nvPr>
        </p:nvSpPr>
        <p:spPr>
          <a:xfrm>
            <a:off x="4771080" y="2913480"/>
            <a:ext cx="3996720" cy="7545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dk1"/>
                </a:solidFill>
                <a:effectLst/>
                <a:uFillTx/>
                <a:latin typeface="Inter"/>
                <a:ea typeface="Inter"/>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rgbClr val="000000"/>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0000" y="228600"/>
            <a:ext cx="5675400" cy="10584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39" name="Google Shape;111;p20"/>
          <p:cNvSpPr/>
          <p:nvPr/>
        </p:nvSpPr>
        <p:spPr>
          <a:xfrm>
            <a:off x="6168960" y="3906000"/>
            <a:ext cx="274608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2"/>
              </a:rPr>
              <a:t>Slidesgo</a:t>
            </a:r>
            <a:r>
              <a:rPr lang="en" sz="1000" b="0" u="none" strike="noStrike">
                <a:solidFill>
                  <a:schemeClr val="dk1"/>
                </a:solidFill>
                <a:effectLst/>
                <a:uFillTx/>
                <a:latin typeface="DM Sans"/>
                <a:ea typeface="DM Sans"/>
              </a:rPr>
              <a:t>, and includes icons, infographics &amp; images by </a:t>
            </a:r>
            <a:r>
              <a:rPr lang="en" sz="1000" b="1" u="sng" strike="noStrike">
                <a:solidFill>
                  <a:schemeClr val="dk1"/>
                </a:solidFill>
                <a:effectLst/>
                <a:uFillTx/>
                <a:latin typeface="DM Sans"/>
                <a:ea typeface="DM Sans"/>
                <a:hlinkClick r:id="rId3"/>
              </a:rPr>
              <a:t>Freepik</a:t>
            </a:r>
            <a:r>
              <a:rPr lang="en" sz="1000" b="0" u="none" strike="noStrike">
                <a:solidFill>
                  <a:schemeClr val="dk1"/>
                </a:solidFill>
                <a:effectLst/>
                <a:uFillTx/>
                <a:latin typeface="DM Sans"/>
                <a:ea typeface="DM Sans"/>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rgbClr val="000000"/>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934920" y="1510200"/>
            <a:ext cx="7836120" cy="105984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41" name="PlaceHolder 2"/>
          <p:cNvSpPr>
            <a:spLocks noGrp="1"/>
          </p:cNvSpPr>
          <p:nvPr>
            <p:ph type="title"/>
          </p:nvPr>
        </p:nvSpPr>
        <p:spPr>
          <a:xfrm>
            <a:off x="720000" y="444960"/>
            <a:ext cx="1267920" cy="1269360"/>
          </a:xfrm>
          <a:prstGeom prst="rect">
            <a:avLst/>
          </a:prstGeom>
          <a:no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Inter"/>
                <a:ea typeface="Inter"/>
              </a:rPr>
              <a:t>xx%</a:t>
            </a:r>
            <a:endParaRPr lang="fr-FR" sz="6000" b="0" u="none" strike="noStrike">
              <a:solidFill>
                <a:schemeClr val="dk1"/>
              </a:solidFill>
              <a:effectLst/>
              <a:uFillTx/>
              <a:latin typeface="Arial"/>
            </a:endParaRPr>
          </a:p>
        </p:txBody>
      </p:sp>
      <p:cxnSp>
        <p:nvCxnSpPr>
          <p:cNvPr id="42" name="Google Shape;18;p3"/>
          <p:cNvCxnSpPr/>
          <p:nvPr/>
        </p:nvCxnSpPr>
        <p:spPr>
          <a:xfrm>
            <a:off x="593640" y="671400"/>
            <a:ext cx="360" cy="1699920"/>
          </a:xfrm>
          <a:prstGeom prst="straightConnector1">
            <a:avLst/>
          </a:prstGeom>
          <a:ln w="19050">
            <a:solidFill>
              <a:srgbClr val="707070"/>
            </a:solidFill>
            <a:round/>
          </a:ln>
        </p:spPr>
      </p:cxnSp>
      <p:cxnSp>
        <p:nvCxnSpPr>
          <p:cNvPr id="43" name="Google Shape;19;p3"/>
          <p:cNvCxnSpPr/>
          <p:nvPr/>
        </p:nvCxnSpPr>
        <p:spPr>
          <a:xfrm>
            <a:off x="8771040" y="2924280"/>
            <a:ext cx="360" cy="620640"/>
          </a:xfrm>
          <a:prstGeom prst="straightConnector1">
            <a:avLst/>
          </a:prstGeom>
          <a:ln w="19050">
            <a:solidFill>
              <a:srgbClr val="707070"/>
            </a:solidFill>
            <a:round/>
          </a:ln>
        </p:spPr>
      </p:cxnSp>
      <p:sp>
        <p:nvSpPr>
          <p:cNvPr id="44" name="PlaceHolder 3"/>
          <p:cNvSpPr>
            <a:spLocks noGrp="1"/>
          </p:cNvSpPr>
          <p:nvPr>
            <p:ph type="body"/>
          </p:nvPr>
        </p:nvSpPr>
        <p:spPr>
          <a:xfrm>
            <a:off x="0" y="4252680"/>
            <a:ext cx="9143640" cy="89028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rgbClr val="000000"/>
        </a:solidFill>
        <a:effectLst/>
      </p:bgPr>
    </p:bg>
    <p:spTree>
      <p:nvGrpSpPr>
        <p:cNvPr id="1" name=""/>
        <p:cNvGrpSpPr/>
        <p:nvPr/>
      </p:nvGrpSpPr>
      <p:grpSpPr>
        <a:xfrm>
          <a:off x="0" y="0"/>
          <a:ext cx="0" cy="0"/>
          <a:chOff x="0" y="0"/>
          <a:chExt cx="0" cy="0"/>
        </a:xfrm>
      </p:grpSpPr>
      <p:cxnSp>
        <p:nvCxnSpPr>
          <p:cNvPr id="45" name="Google Shape;113;p21"/>
          <p:cNvCxnSpPr/>
          <p:nvPr/>
        </p:nvCxnSpPr>
        <p:spPr>
          <a:xfrm>
            <a:off x="275760" y="290520"/>
            <a:ext cx="360" cy="4453560"/>
          </a:xfrm>
          <a:prstGeom prst="straightConnector1">
            <a:avLst/>
          </a:prstGeom>
          <a:ln w="9525">
            <a:solidFill>
              <a:srgbClr val="707070"/>
            </a:solidFill>
            <a:roun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rgbClr val="000000"/>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7" name="PlaceHolder 2"/>
          <p:cNvSpPr>
            <a:spLocks noGrp="1"/>
          </p:cNvSpPr>
          <p:nvPr>
            <p:ph type="body"/>
          </p:nvPr>
        </p:nvSpPr>
        <p:spPr>
          <a:xfrm>
            <a:off x="720000" y="1087200"/>
            <a:ext cx="7703640" cy="3931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rgbClr val="000000"/>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44496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000000"/>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rgbClr val="000000"/>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1"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2"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rgbClr val="000000"/>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rgbClr val="000000"/>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rgbClr val="000000"/>
        </a:solidFill>
        <a:effectLst/>
      </p:bgPr>
    </p:bg>
    <p:spTree>
      <p:nvGrpSpPr>
        <p:cNvPr id="1" name=""/>
        <p:cNvGrpSpPr/>
        <p:nvPr/>
      </p:nvGrpSpPr>
      <p:grpSpPr>
        <a:xfrm>
          <a:off x="0" y="0"/>
          <a:ext cx="0" cy="0"/>
          <a:chOff x="0" y="0"/>
          <a:chExt cx="0" cy="0"/>
        </a:xfrm>
      </p:grpSpPr>
      <p:sp>
        <p:nvSpPr>
          <p:cNvPr id="5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6" name="PlaceHolder 2"/>
          <p:cNvSpPr>
            <a:spLocks noGrp="1"/>
          </p:cNvSpPr>
          <p:nvPr>
            <p:ph type="title"/>
          </p:nvPr>
        </p:nvSpPr>
        <p:spPr>
          <a:xfrm>
            <a:off x="228600" y="4549680"/>
            <a:ext cx="3658320" cy="365040"/>
          </a:xfrm>
          <a:prstGeom prst="rect">
            <a:avLst/>
          </a:prstGeom>
          <a:solidFill>
            <a:srgbClr val="000000"/>
          </a:solidFill>
          <a:ln w="0">
            <a:noFill/>
          </a:ln>
        </p:spPr>
        <p:txBody>
          <a:bodyPr lIns="91440" tIns="91440" rIns="91440" bIns="91440" anchor="ctr">
            <a:noAutofit/>
          </a:bodyPr>
          <a:lstStyle/>
          <a:p>
            <a:pPr indent="0">
              <a:buNone/>
            </a:pPr>
            <a:r>
              <a:rPr lang="fr-FR" sz="16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7" name="Google Shape;120;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9" name="Google Shape;123;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61"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hyperlink" Target="https://info.blaisepascal.fr/nsi-sockets-python/" TargetMode="External"/><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hyperlink" Target="http://security.stackexchange.com/questions/74479/certificate-authentication-between-apps" TargetMode="External"/><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743040" y="657360"/>
            <a:ext cx="4952520" cy="18093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5700" b="0" u="none" strike="noStrike">
                <a:solidFill>
                  <a:schemeClr val="dk1"/>
                </a:solidFill>
                <a:effectLst/>
                <a:uFillTx/>
                <a:latin typeface="Inter"/>
                <a:ea typeface="Inter"/>
              </a:rPr>
              <a:t>Client-Server</a:t>
            </a:r>
            <a:endParaRPr lang="fr-FR" sz="5700" b="0" u="none" strike="noStrike">
              <a:solidFill>
                <a:schemeClr val="dk1"/>
              </a:solidFill>
              <a:effectLst/>
              <a:uFillTx/>
              <a:latin typeface="Arial"/>
            </a:endParaRPr>
          </a:p>
        </p:txBody>
      </p:sp>
      <p:sp>
        <p:nvSpPr>
          <p:cNvPr id="63" name="PlaceHolder 2"/>
          <p:cNvSpPr>
            <a:spLocks noGrp="1"/>
          </p:cNvSpPr>
          <p:nvPr>
            <p:ph type="subTitle"/>
          </p:nvPr>
        </p:nvSpPr>
        <p:spPr>
          <a:xfrm>
            <a:off x="819000" y="2751364"/>
            <a:ext cx="4885920" cy="424543"/>
          </a:xfrm>
          <a:prstGeom prst="rect">
            <a:avLst/>
          </a:prstGeom>
          <a:noFill/>
          <a:ln w="0">
            <a:noFill/>
          </a:ln>
        </p:spPr>
        <p:txBody>
          <a:bodyPr lIns="91440" tIns="91440" rIns="91440" bIns="91440" anchor="t">
            <a:normAutofit fontScale="92500" lnSpcReduction="10000"/>
          </a:bodyPr>
          <a:lstStyle/>
          <a:p>
            <a:pPr indent="0">
              <a:lnSpc>
                <a:spcPct val="100000"/>
              </a:lnSpc>
              <a:buNone/>
              <a:tabLst>
                <a:tab pos="0" algn="l"/>
              </a:tabLst>
            </a:pPr>
            <a:r>
              <a:rPr lang="en-US" sz="1800" b="0" u="none" strike="noStrike" dirty="0">
                <a:solidFill>
                  <a:schemeClr val="dk1"/>
                </a:solidFill>
                <a:effectLst/>
                <a:uFillTx/>
                <a:latin typeface="DM Sans"/>
                <a:ea typeface="DM Sans"/>
              </a:rPr>
              <a:t>Architecture Overview</a:t>
            </a:r>
            <a:endParaRPr lang="en-US" sz="1800" b="0" u="none" strike="noStrike" dirty="0">
              <a:solidFill>
                <a:srgbClr val="FFFFFF"/>
              </a:solidFill>
              <a:effectLst/>
              <a:uFillTx/>
              <a:latin typeface="OpenSymbol"/>
            </a:endParaRPr>
          </a:p>
        </p:txBody>
      </p:sp>
      <p:pic>
        <p:nvPicPr>
          <p:cNvPr id="64" name="Google Shape;132;p27"/>
          <p:cNvPicPr/>
          <p:nvPr/>
        </p:nvPicPr>
        <p:blipFill>
          <a:blip r:embed="rId2"/>
          <a:srcRect l="10360" r="10360"/>
          <a:stretch/>
        </p:blipFill>
        <p:spPr>
          <a:xfrm>
            <a:off x="6079680" y="0"/>
            <a:ext cx="3063960" cy="5143320"/>
          </a:xfrm>
          <a:prstGeom prst="rect">
            <a:avLst/>
          </a:prstGeom>
          <a:noFill/>
          <a:ln w="0">
            <a:noFill/>
          </a:ln>
        </p:spPr>
      </p:pic>
      <p:sp>
        <p:nvSpPr>
          <p:cNvPr id="2" name="TextBox 1">
            <a:extLst>
              <a:ext uri="{FF2B5EF4-FFF2-40B4-BE49-F238E27FC236}">
                <a16:creationId xmlns:a16="http://schemas.microsoft.com/office/drawing/2014/main" id="{42E5BE07-930B-CA61-5624-E75B4767E4FC}"/>
              </a:ext>
            </a:extLst>
          </p:cNvPr>
          <p:cNvSpPr txBox="1"/>
          <p:nvPr/>
        </p:nvSpPr>
        <p:spPr>
          <a:xfrm flipH="1">
            <a:off x="2310492" y="4073978"/>
            <a:ext cx="2261506" cy="646331"/>
          </a:xfrm>
          <a:prstGeom prst="rect">
            <a:avLst/>
          </a:prstGeom>
          <a:noFill/>
        </p:spPr>
        <p:txBody>
          <a:bodyPr wrap="square" rtlCol="0">
            <a:spAutoFit/>
          </a:bodyPr>
          <a:lstStyle/>
          <a:p>
            <a:r>
              <a:rPr lang="en-US" dirty="0"/>
              <a:t>Presented by Furquan Ahmed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723960" y="595993"/>
            <a:ext cx="8191080" cy="653143"/>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0" u="none" strike="noStrike" dirty="0">
                <a:solidFill>
                  <a:schemeClr val="dk1"/>
                </a:solidFill>
                <a:effectLst/>
                <a:uFillTx/>
                <a:latin typeface="Inter"/>
                <a:ea typeface="Inter"/>
              </a:rPr>
              <a:t>Introduction</a:t>
            </a:r>
            <a:endParaRPr lang="fr-FR" sz="2600" b="0" u="none" strike="noStrike" dirty="0">
              <a:solidFill>
                <a:schemeClr val="dk1"/>
              </a:solidFill>
              <a:effectLst/>
              <a:uFillTx/>
              <a:latin typeface="Arial"/>
            </a:endParaRPr>
          </a:p>
        </p:txBody>
      </p:sp>
      <p:sp>
        <p:nvSpPr>
          <p:cNvPr id="66" name="PlaceHolder 2"/>
          <p:cNvSpPr>
            <a:spLocks noGrp="1"/>
          </p:cNvSpPr>
          <p:nvPr>
            <p:ph type="subTitle"/>
          </p:nvPr>
        </p:nvSpPr>
        <p:spPr>
          <a:xfrm>
            <a:off x="3352680" y="1571760"/>
            <a:ext cx="5562360" cy="2102169"/>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dirty="0">
                <a:solidFill>
                  <a:schemeClr val="dk1"/>
                </a:solidFill>
                <a:effectLst/>
                <a:uFillTx/>
                <a:latin typeface="DM Sans"/>
                <a:ea typeface="DM Sans"/>
              </a:rPr>
              <a:t>Client-server architecture is a computing model that divides tasks between service requesters (</a:t>
            </a:r>
            <a:r>
              <a:rPr lang="en-US" sz="1200" b="0" i="1" u="none" strike="noStrike" dirty="0">
                <a:solidFill>
                  <a:schemeClr val="dk1"/>
                </a:solidFill>
                <a:effectLst/>
                <a:uFillTx/>
                <a:latin typeface="DM Sans"/>
                <a:ea typeface="DM Sans"/>
              </a:rPr>
              <a:t>clients</a:t>
            </a:r>
            <a:r>
              <a:rPr lang="en-US" sz="1200" b="0" u="none" strike="noStrike" dirty="0">
                <a:solidFill>
                  <a:schemeClr val="dk1"/>
                </a:solidFill>
                <a:effectLst/>
                <a:uFillTx/>
                <a:latin typeface="DM Sans"/>
                <a:ea typeface="DM Sans"/>
              </a:rPr>
              <a:t>) and service providers (</a:t>
            </a:r>
            <a:r>
              <a:rPr lang="en-US" sz="1200" b="0" i="1" u="none" strike="noStrike" dirty="0">
                <a:solidFill>
                  <a:schemeClr val="dk1"/>
                </a:solidFill>
                <a:effectLst/>
                <a:uFillTx/>
                <a:latin typeface="DM Sans"/>
                <a:ea typeface="DM Sans"/>
              </a:rPr>
              <a:t>servers</a:t>
            </a:r>
            <a:r>
              <a:rPr lang="en-US" sz="1200" b="0" u="none" strike="noStrike" dirty="0">
                <a:solidFill>
                  <a:schemeClr val="dk1"/>
                </a:solidFill>
                <a:effectLst/>
                <a:uFillTx/>
                <a:latin typeface="DM Sans"/>
                <a:ea typeface="DM Sans"/>
              </a:rPr>
              <a:t>). It is fundamental to network computing, enabling efficient data exchange and resource sharing across systems. Understanding this architecture is crucial for designing scalable and secure applications.</a:t>
            </a:r>
            <a:endParaRPr lang="en-US" sz="1200" b="0" u="none" strike="noStrike" dirty="0">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FFFFFF"/>
              </a:solidFill>
              <a:effectLst/>
              <a:uFillTx/>
              <a:latin typeface="OpenSymbol"/>
            </a:endParaRPr>
          </a:p>
        </p:txBody>
      </p:sp>
      <p:sp>
        <p:nvSpPr>
          <p:cNvPr id="68" name="Rectangle 67"/>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4000" b="0" u="none" strike="noStrike">
                <a:solidFill>
                  <a:schemeClr val="dk1"/>
                </a:solidFill>
                <a:effectLst/>
                <a:uFillTx/>
                <a:latin typeface="Inter"/>
              </a:rPr>
              <a:t>Basic Concepts of Client-Server Architecture</a:t>
            </a:r>
            <a:endParaRPr lang="en-US" sz="4000" b="0" u="none" strike="noStrike">
              <a:solidFill>
                <a:srgbClr val="FFFFFF"/>
              </a:solidFill>
              <a:effectLst/>
              <a:uFillTx/>
              <a:latin typeface="OpenSymbol"/>
            </a:endParaRPr>
          </a:p>
        </p:txBody>
      </p:sp>
      <p:pic>
        <p:nvPicPr>
          <p:cNvPr id="69" name="image6986bbbea72ff" descr="image6986bbbea7302"/>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723960" y="447840"/>
            <a:ext cx="8191080" cy="694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0" u="none" strike="noStrike">
                <a:solidFill>
                  <a:schemeClr val="dk1"/>
                </a:solidFill>
                <a:effectLst/>
                <a:uFillTx/>
                <a:latin typeface="Inter"/>
                <a:ea typeface="Inter"/>
              </a:rPr>
              <a:t>Definition and Purpose</a:t>
            </a:r>
            <a:endParaRPr lang="fr-FR" sz="2600" b="0" u="none" strike="noStrike">
              <a:solidFill>
                <a:schemeClr val="dk1"/>
              </a:solidFill>
              <a:effectLst/>
              <a:uFillTx/>
              <a:latin typeface="Arial"/>
            </a:endParaRPr>
          </a:p>
        </p:txBody>
      </p:sp>
      <p:sp>
        <p:nvSpPr>
          <p:cNvPr id="71" name="PlaceHolder 2"/>
          <p:cNvSpPr>
            <a:spLocks noGrp="1"/>
          </p:cNvSpPr>
          <p:nvPr>
            <p:ph type="subTitle"/>
          </p:nvPr>
        </p:nvSpPr>
        <p:spPr>
          <a:xfrm>
            <a:off x="3352680" y="1571760"/>
            <a:ext cx="5562360" cy="2126661"/>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dirty="0">
                <a:solidFill>
                  <a:schemeClr val="dk1"/>
                </a:solidFill>
                <a:effectLst/>
                <a:uFillTx/>
                <a:latin typeface="DM Sans"/>
                <a:ea typeface="DM Sans"/>
              </a:rPr>
              <a:t>Client-server architecture is a design model where </a:t>
            </a:r>
            <a:r>
              <a:rPr lang="en-US" sz="1200" b="0" i="1" u="none" strike="noStrike" dirty="0">
                <a:solidFill>
                  <a:schemeClr val="dk1"/>
                </a:solidFill>
                <a:effectLst/>
                <a:uFillTx/>
                <a:latin typeface="DM Sans"/>
                <a:ea typeface="DM Sans"/>
              </a:rPr>
              <a:t>clients</a:t>
            </a:r>
            <a:r>
              <a:rPr lang="en-US" sz="1200" b="0" u="none" strike="noStrike" dirty="0">
                <a:solidFill>
                  <a:schemeClr val="dk1"/>
                </a:solidFill>
                <a:effectLst/>
                <a:uFillTx/>
                <a:latin typeface="DM Sans"/>
                <a:ea typeface="DM Sans"/>
              </a:rPr>
              <a:t> request services and </a:t>
            </a:r>
            <a:r>
              <a:rPr lang="en-US" sz="1200" b="0" i="1" u="none" strike="noStrike" dirty="0">
                <a:solidFill>
                  <a:schemeClr val="dk1"/>
                </a:solidFill>
                <a:effectLst/>
                <a:uFillTx/>
                <a:latin typeface="DM Sans"/>
                <a:ea typeface="DM Sans"/>
              </a:rPr>
              <a:t>servers</a:t>
            </a:r>
            <a:r>
              <a:rPr lang="en-US" sz="1200" b="0" u="none" strike="noStrike" dirty="0">
                <a:solidFill>
                  <a:schemeClr val="dk1"/>
                </a:solidFill>
                <a:effectLst/>
                <a:uFillTx/>
                <a:latin typeface="DM Sans"/>
                <a:ea typeface="DM Sans"/>
              </a:rPr>
              <a:t> provide them. It allows centralized management of data, resources, and applications, making systems easier to maintain and scale. This model supports various services like web hosting, file sharing, and database access.</a:t>
            </a:r>
            <a:endParaRPr lang="en-US" sz="1200" b="0" u="none" strike="noStrike" dirty="0">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Inter"/>
              </a:rPr>
              <a:t>Components: Client, Server, Network</a:t>
            </a:r>
            <a:endParaRPr lang="en-US" sz="2600" b="0" u="none" strike="noStrike">
              <a:solidFill>
                <a:srgbClr val="FFFFFF"/>
              </a:solidFill>
              <a:effectLst/>
              <a:uFillTx/>
              <a:latin typeface="OpenSymbol"/>
            </a:endParaRPr>
          </a:p>
        </p:txBody>
      </p:sp>
      <p:sp>
        <p:nvSpPr>
          <p:cNvPr id="73" name="Rectangle 72"/>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DM Sans"/>
              </a:rPr>
              <a:t>The architecture includes three main components: the </a:t>
            </a:r>
            <a:r>
              <a:rPr lang="en-US" sz="1200" b="0" i="1" u="none" strike="noStrike">
                <a:solidFill>
                  <a:schemeClr val="dk1"/>
                </a:solidFill>
                <a:effectLst/>
                <a:uFillTx/>
                <a:latin typeface="DM Sans"/>
              </a:rPr>
              <a:t>client</a:t>
            </a:r>
            <a:r>
              <a:rPr lang="en-US" sz="1200" b="0" u="none" strike="noStrike">
                <a:solidFill>
                  <a:schemeClr val="dk1"/>
                </a:solidFill>
                <a:effectLst/>
                <a:uFillTx/>
                <a:latin typeface="DM Sans"/>
              </a:rPr>
              <a:t>, which initiates requests; the </a:t>
            </a:r>
            <a:r>
              <a:rPr lang="en-US" sz="1200" b="0" i="1" u="none" strike="noStrike">
                <a:solidFill>
                  <a:schemeClr val="dk1"/>
                </a:solidFill>
                <a:effectLst/>
                <a:uFillTx/>
                <a:latin typeface="DM Sans"/>
              </a:rPr>
              <a:t>server</a:t>
            </a:r>
            <a:r>
              <a:rPr lang="en-US" sz="1200" b="0" u="none" strike="noStrike">
                <a:solidFill>
                  <a:schemeClr val="dk1"/>
                </a:solidFill>
                <a:effectLst/>
                <a:uFillTx/>
                <a:latin typeface="DM Sans"/>
              </a:rPr>
              <a:t>, which processes and responds; and the </a:t>
            </a:r>
            <a:r>
              <a:rPr lang="en-US" sz="1200" b="0" i="1" u="none" strike="noStrike">
                <a:solidFill>
                  <a:schemeClr val="dk1"/>
                </a:solidFill>
                <a:effectLst/>
                <a:uFillTx/>
                <a:latin typeface="DM Sans"/>
              </a:rPr>
              <a:t>network</a:t>
            </a:r>
            <a:r>
              <a:rPr lang="en-US" sz="1200" b="0" u="none" strike="noStrike">
                <a:solidFill>
                  <a:schemeClr val="dk1"/>
                </a:solidFill>
                <a:effectLst/>
                <a:uFillTx/>
                <a:latin typeface="DM Sans"/>
              </a:rPr>
              <a:t> facilitating communication. Each component plays a distinct role, ensuring reliability, responsiveness, and efficient resource utilization within the system.</a:t>
            </a:r>
            <a:endParaRPr lang="en-US" sz="1200" b="0" u="none" strike="noStrike">
              <a:solidFill>
                <a:srgbClr val="FFFFFF"/>
              </a:solidFill>
              <a:effectLst/>
              <a:uFillTx/>
              <a:latin typeface="OpenSymbol"/>
            </a:endParaRPr>
          </a:p>
        </p:txBody>
      </p:sp>
      <p:pic>
        <p:nvPicPr>
          <p:cNvPr id="74" name="image6986bbbeb9a49" descr="image6986bbbeb9a4f"/>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Inter"/>
              </a:rPr>
              <a:t>Interaction Model and Request-Response Cycle</a:t>
            </a:r>
            <a:endParaRPr lang="en-US" sz="2600" b="0" u="none" strike="noStrike">
              <a:solidFill>
                <a:srgbClr val="FFFFFF"/>
              </a:solidFill>
              <a:effectLst/>
              <a:uFillTx/>
              <a:latin typeface="OpenSymbol"/>
            </a:endParaRPr>
          </a:p>
        </p:txBody>
      </p:sp>
      <p:sp>
        <p:nvSpPr>
          <p:cNvPr id="76" name="Rectangle 75"/>
          <p:cNvSpPr/>
          <p:nvPr/>
        </p:nvSpPr>
        <p:spPr>
          <a:xfrm>
            <a:off x="476280" y="1077687"/>
            <a:ext cx="8191080" cy="120015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DM Sans"/>
              </a:rPr>
              <a:t>In client-server architecture, the </a:t>
            </a:r>
            <a:r>
              <a:rPr lang="en-US" sz="1200" b="0" i="1" u="none" strike="noStrike" dirty="0">
                <a:solidFill>
                  <a:schemeClr val="dk1"/>
                </a:solidFill>
                <a:effectLst/>
                <a:uFillTx/>
                <a:latin typeface="DM Sans"/>
              </a:rPr>
              <a:t>interaction model</a:t>
            </a:r>
            <a:r>
              <a:rPr lang="en-US" sz="1200" b="0" u="none" strike="noStrike" dirty="0">
                <a:solidFill>
                  <a:schemeClr val="dk1"/>
                </a:solidFill>
                <a:effectLst/>
                <a:uFillTx/>
                <a:latin typeface="DM Sans"/>
              </a:rPr>
              <a:t> follows a </a:t>
            </a:r>
            <a:r>
              <a:rPr lang="en-US" sz="1200" b="1" u="none" strike="noStrike" dirty="0">
                <a:solidFill>
                  <a:schemeClr val="dk1"/>
                </a:solidFill>
                <a:effectLst/>
                <a:uFillTx/>
                <a:latin typeface="DM Sans"/>
              </a:rPr>
              <a:t>request-response cycle</a:t>
            </a:r>
            <a:r>
              <a:rPr lang="en-US" sz="1200" b="0" u="none" strike="noStrike" dirty="0">
                <a:solidFill>
                  <a:schemeClr val="dk1"/>
                </a:solidFill>
                <a:effectLst/>
                <a:uFillTx/>
                <a:latin typeface="DM Sans"/>
              </a:rPr>
              <a:t>. The client sends a request to the server, which processes it and returns the appropriate response. This cycle enables asynchronous communication and allows multiple clients to interact with a single server simultaneously, ensuring efficient resource sharing.</a:t>
            </a:r>
            <a:endParaRPr lang="en-US" sz="1200" b="0" u="none" strike="noStrike" dirty="0">
              <a:solidFill>
                <a:srgbClr val="FFFFFF"/>
              </a:solidFill>
              <a:effectLst/>
              <a:uFillTx/>
              <a:latin typeface="OpenSymbol"/>
            </a:endParaRPr>
          </a:p>
        </p:txBody>
      </p:sp>
      <p:sp>
        <p:nvSpPr>
          <p:cNvPr id="2" name="Rectangle 1">
            <a:extLst>
              <a:ext uri="{FF2B5EF4-FFF2-40B4-BE49-F238E27FC236}">
                <a16:creationId xmlns:a16="http://schemas.microsoft.com/office/drawing/2014/main" id="{964084EF-6247-96FA-70FD-44205607CCD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A01F16F4-9C7F-9BBA-C6D2-51632316BBEE}"/>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BEF6E58F-5FD0-2C37-08D5-B23C1BAC88B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124075" y="2029887"/>
            <a:ext cx="4895850" cy="28441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952560" y="476280"/>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1"/>
                </a:solidFill>
                <a:effectLst/>
                <a:uFillTx/>
                <a:latin typeface="Calibri"/>
              </a:rPr>
              <a:t>02</a:t>
            </a:r>
            <a:endParaRPr lang="en-US" sz="5000" b="0" u="none" strike="noStrike" dirty="0">
              <a:solidFill>
                <a:srgbClr val="FFFFFF"/>
              </a:solidFill>
              <a:effectLst/>
              <a:uFillTx/>
              <a:latin typeface="OpenSymbol"/>
            </a:endParaRPr>
          </a:p>
        </p:txBody>
      </p:sp>
      <p:sp>
        <p:nvSpPr>
          <p:cNvPr id="78" name="Rectangle 77"/>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0" u="none" strike="noStrike">
                <a:solidFill>
                  <a:schemeClr val="dk1"/>
                </a:solidFill>
                <a:effectLst/>
                <a:uFillTx/>
                <a:latin typeface="Inter"/>
              </a:rPr>
              <a:t>Design and Implementation</a:t>
            </a:r>
            <a:endParaRPr lang="en-US" sz="4000" b="0" u="none" strike="noStrike">
              <a:solidFill>
                <a:srgbClr val="FFFFFF"/>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723960" y="447840"/>
            <a:ext cx="8191080" cy="694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0" u="none" strike="noStrike">
                <a:solidFill>
                  <a:schemeClr val="dk1"/>
                </a:solidFill>
                <a:effectLst/>
                <a:uFillTx/>
                <a:latin typeface="Inter"/>
                <a:ea typeface="Inter"/>
              </a:rPr>
              <a:t>Types of Servers and Clients</a:t>
            </a:r>
            <a:endParaRPr lang="fr-FR" sz="2600" b="0" u="none" strike="noStrike">
              <a:solidFill>
                <a:schemeClr val="dk1"/>
              </a:solidFill>
              <a:effectLst/>
              <a:uFillTx/>
              <a:latin typeface="Arial"/>
            </a:endParaRPr>
          </a:p>
        </p:txBody>
      </p:sp>
      <p:sp>
        <p:nvSpPr>
          <p:cNvPr id="80" name="PlaceHolder 2"/>
          <p:cNvSpPr>
            <a:spLocks noGrp="1"/>
          </p:cNvSpPr>
          <p:nvPr>
            <p:ph type="subTitle"/>
          </p:nvPr>
        </p:nvSpPr>
        <p:spPr>
          <a:xfrm>
            <a:off x="3352680" y="1571760"/>
            <a:ext cx="5562360" cy="2404247"/>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dirty="0">
                <a:solidFill>
                  <a:schemeClr val="dk1"/>
                </a:solidFill>
                <a:effectLst/>
                <a:uFillTx/>
                <a:latin typeface="DM Sans"/>
                <a:ea typeface="DM Sans"/>
              </a:rPr>
              <a:t>Servers can be categorized by their purpose: web servers, database servers, file servers, and application servers. Clients vary from desktop applications to mobile devices and thin clients. Each type is designed to fulfill specific roles, optimizing resource use and user experience according to system requirements.</a:t>
            </a:r>
            <a:endParaRPr lang="en-US" sz="1200" b="0" u="none" strike="noStrike" dirty="0">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a:solidFill>
                  <a:schemeClr val="dk1"/>
                </a:solidFill>
                <a:effectLst/>
                <a:uFillTx/>
                <a:latin typeface="Inter"/>
              </a:rPr>
              <a:t>Communication Protocols (HTTP, TCP/IP)</a:t>
            </a:r>
            <a:endParaRPr lang="en-US" sz="2600" b="0" u="none" strike="noStrike">
              <a:solidFill>
                <a:srgbClr val="FFFFFF"/>
              </a:solidFill>
              <a:effectLst/>
              <a:uFillTx/>
              <a:latin typeface="OpenSymbol"/>
            </a:endParaRPr>
          </a:p>
        </p:txBody>
      </p:sp>
      <p:sp>
        <p:nvSpPr>
          <p:cNvPr id="82" name="Rectangle 81"/>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DM Sans"/>
              </a:rPr>
              <a:t>Communication relies on protocols such as </a:t>
            </a:r>
            <a:r>
              <a:rPr lang="en-US" sz="1200" b="1" u="none" strike="noStrike">
                <a:solidFill>
                  <a:schemeClr val="dk1"/>
                </a:solidFill>
                <a:effectLst/>
                <a:uFillTx/>
                <a:latin typeface="DM Sans"/>
              </a:rPr>
              <a:t>HTTP</a:t>
            </a:r>
            <a:r>
              <a:rPr lang="en-US" sz="1200" b="0" u="none" strike="noStrike">
                <a:solidFill>
                  <a:schemeClr val="dk1"/>
                </a:solidFill>
                <a:effectLst/>
                <a:uFillTx/>
                <a:latin typeface="DM Sans"/>
              </a:rPr>
              <a:t> for web traffic and </a:t>
            </a:r>
            <a:r>
              <a:rPr lang="en-US" sz="1200" b="1" u="none" strike="noStrike">
                <a:solidFill>
                  <a:schemeClr val="dk1"/>
                </a:solidFill>
                <a:effectLst/>
                <a:uFillTx/>
                <a:latin typeface="DM Sans"/>
              </a:rPr>
              <a:t>TCP/IP</a:t>
            </a:r>
            <a:r>
              <a:rPr lang="en-US" sz="1200" b="0" u="none" strike="noStrike">
                <a:solidFill>
                  <a:schemeClr val="dk1"/>
                </a:solidFill>
                <a:effectLst/>
                <a:uFillTx/>
                <a:latin typeface="DM Sans"/>
              </a:rPr>
              <a:t> for reliable data transmission. These protocols define the rules for data exchange, ensuring secure, organized, and efficient communication between clients and servers across diverse networks.</a:t>
            </a:r>
            <a:endParaRPr lang="en-US" sz="1200" b="0" u="none" strike="noStrike">
              <a:solidFill>
                <a:srgbClr val="FFFFFF"/>
              </a:solidFill>
              <a:effectLst/>
              <a:uFillTx/>
              <a:latin typeface="OpenSymbol"/>
            </a:endParaRPr>
          </a:p>
        </p:txBody>
      </p:sp>
      <p:pic>
        <p:nvPicPr>
          <p:cNvPr id="83" name="image6986bbbecbc67" descr="image6986bbbecbc6c"/>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600" b="0" u="none" strike="noStrike" dirty="0">
                <a:solidFill>
                  <a:schemeClr val="dk1"/>
                </a:solidFill>
                <a:effectLst/>
                <a:uFillTx/>
                <a:latin typeface="Inter"/>
              </a:rPr>
              <a:t>Scalability, Security, and Performance Considerations</a:t>
            </a:r>
            <a:endParaRPr lang="en-US" sz="2600" b="0" u="none" strike="noStrike" dirty="0">
              <a:solidFill>
                <a:srgbClr val="FFFFFF"/>
              </a:solidFill>
              <a:effectLst/>
              <a:uFillTx/>
              <a:latin typeface="OpenSymbol"/>
            </a:endParaRPr>
          </a:p>
        </p:txBody>
      </p:sp>
      <p:sp>
        <p:nvSpPr>
          <p:cNvPr id="85" name="Rectangle 84"/>
          <p:cNvSpPr/>
          <p:nvPr/>
        </p:nvSpPr>
        <p:spPr>
          <a:xfrm>
            <a:off x="476280" y="102870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DM Sans"/>
              </a:rPr>
              <a:t>Effective client-server systems must handle increasing loads through </a:t>
            </a:r>
            <a:r>
              <a:rPr lang="en-US" sz="1200" b="1" u="none" strike="noStrike" dirty="0">
                <a:solidFill>
                  <a:schemeClr val="dk1"/>
                </a:solidFill>
                <a:effectLst/>
                <a:uFillTx/>
                <a:latin typeface="DM Sans"/>
              </a:rPr>
              <a:t>scalability</a:t>
            </a:r>
            <a:r>
              <a:rPr lang="en-US" sz="1200" b="0" u="none" strike="noStrike" dirty="0">
                <a:solidFill>
                  <a:schemeClr val="dk1"/>
                </a:solidFill>
                <a:effectLst/>
                <a:uFillTx/>
                <a:latin typeface="DM Sans"/>
              </a:rPr>
              <a:t> options like load balancing and clustering. Security measures such as encryption and authentication protect data integrity. Performance optimization focuses on minimizing latency and maximizing throughput for seamless user experience.</a:t>
            </a:r>
            <a:endParaRPr lang="en-US" sz="1200" b="0" u="none" strike="noStrike" dirty="0">
              <a:solidFill>
                <a:srgbClr val="FFFFFF"/>
              </a:solidFill>
              <a:effectLst/>
              <a:uFillTx/>
              <a:latin typeface="OpenSymbol"/>
            </a:endParaRPr>
          </a:p>
        </p:txBody>
      </p:sp>
      <p:pic>
        <p:nvPicPr>
          <p:cNvPr id="3" name="Picture 2">
            <a:extLst>
              <a:ext uri="{FF2B5EF4-FFF2-40B4-BE49-F238E27FC236}">
                <a16:creationId xmlns:a16="http://schemas.microsoft.com/office/drawing/2014/main" id="{B9D160D6-BEAE-CE50-81EB-7D4FE255A44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37338" y="2065564"/>
            <a:ext cx="6669323" cy="30779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Google Shape;170;p30"/>
          <p:cNvPicPr/>
          <p:nvPr/>
        </p:nvPicPr>
        <p:blipFill>
          <a:blip r:embed="rId2"/>
          <a:srcRect l="5561" r="5571"/>
          <a:stretch/>
        </p:blipFill>
        <p:spPr>
          <a:xfrm>
            <a:off x="5715720" y="0"/>
            <a:ext cx="3427920" cy="5143320"/>
          </a:xfrm>
          <a:prstGeom prst="rect">
            <a:avLst/>
          </a:prstGeom>
          <a:noFill/>
          <a:ln w="0">
            <a:noFill/>
          </a:ln>
        </p:spPr>
      </p:pic>
      <p:sp>
        <p:nvSpPr>
          <p:cNvPr id="87" name="PlaceHolder 1"/>
          <p:cNvSpPr>
            <a:spLocks noGrp="1"/>
          </p:cNvSpPr>
          <p:nvPr>
            <p:ph type="title"/>
          </p:nvPr>
        </p:nvSpPr>
        <p:spPr>
          <a:xfrm>
            <a:off x="723960" y="447840"/>
            <a:ext cx="4657320" cy="1447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0" u="none" strike="noStrike">
                <a:solidFill>
                  <a:schemeClr val="dk1"/>
                </a:solidFill>
                <a:effectLst/>
                <a:uFillTx/>
                <a:latin typeface="Inter"/>
                <a:ea typeface="Inter"/>
              </a:rPr>
              <a:t>Conclusions</a:t>
            </a:r>
            <a:endParaRPr lang="fr-FR" sz="2600" b="0" u="none" strike="noStrike">
              <a:solidFill>
                <a:schemeClr val="dk1"/>
              </a:solidFill>
              <a:effectLst/>
              <a:uFillTx/>
              <a:latin typeface="Arial"/>
            </a:endParaRPr>
          </a:p>
        </p:txBody>
      </p:sp>
      <p:sp>
        <p:nvSpPr>
          <p:cNvPr id="88" name="PlaceHolder 2"/>
          <p:cNvSpPr>
            <a:spLocks noGrp="1"/>
          </p:cNvSpPr>
          <p:nvPr>
            <p:ph/>
          </p:nvPr>
        </p:nvSpPr>
        <p:spPr>
          <a:xfrm>
            <a:off x="723960" y="1895400"/>
            <a:ext cx="4657320" cy="1917321"/>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dirty="0">
                <a:solidFill>
                  <a:schemeClr val="dk1"/>
                </a:solidFill>
                <a:effectLst/>
                <a:uFillTx/>
                <a:latin typeface="DM Sans"/>
                <a:ea typeface="DM Sans"/>
              </a:rPr>
              <a:t>Client-server architecture is essential for modern distributed computing, offering a clear framework for interaction, design, and implementation. Understanding its components, protocols, and operational considerations enables the development of robust, scalable, and secure systems aligned with business and technical needs.</a:t>
            </a:r>
            <a:endParaRPr lang="fr-FR" sz="1200" b="0" u="none" strike="noStrike" dirty="0">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ecret Service by Slidesgo">
  <a:themeElements>
    <a:clrScheme name="Simple Light">
      <a:dk1>
        <a:srgbClr val="FFFFFF"/>
      </a:dk1>
      <a:lt1>
        <a:srgbClr val="000000"/>
      </a:lt1>
      <a:dk2>
        <a:srgbClr val="707070"/>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442</Words>
  <Application>Microsoft Office PowerPoint</Application>
  <PresentationFormat>On-screen Show (16:9)</PresentationFormat>
  <Paragraphs>23</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Arial</vt:lpstr>
      <vt:lpstr>Calibri</vt:lpstr>
      <vt:lpstr>DM Sans</vt:lpstr>
      <vt:lpstr>Inter</vt:lpstr>
      <vt:lpstr>OpenSymbol</vt:lpstr>
      <vt:lpstr>Symbol</vt:lpstr>
      <vt:lpstr>Wingdings</vt:lpstr>
      <vt:lpstr>Secret Service by Slidesgo</vt:lpstr>
      <vt:lpstr>Slidesgo Final Pages</vt:lpstr>
      <vt:lpstr>Client-Server</vt:lpstr>
      <vt:lpstr>Introduction</vt:lpstr>
      <vt:lpstr>PowerPoint Presentation</vt:lpstr>
      <vt:lpstr>Definition and Purpose</vt:lpstr>
      <vt:lpstr>PowerPoint Presentation</vt:lpstr>
      <vt:lpstr>PowerPoint Presentation</vt:lpstr>
      <vt:lpstr>PowerPoint Presentation</vt:lpstr>
      <vt:lpstr>Types of Servers and Clients</vt:lpstr>
      <vt:lpstr>PowerPoint Presentation</vt:lpstr>
      <vt:lpstr>PowerPoint Presentation</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 Furquan Ahmed</cp:lastModifiedBy>
  <cp:revision>4</cp:revision>
  <dcterms:modified xsi:type="dcterms:W3CDTF">2026-02-07T04:31:16Z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2026-02-07T04:12:39Z</dcterms:created>
  <dc:creator>Unknown Creator</dc:creator>
  <dc:description/>
  <dc:language>en-US</dc:language>
  <cp:lastModifiedBy>Unknown Creator</cp:lastModifiedBy>
  <dcterms:modified xsi:type="dcterms:W3CDTF">2026-02-07T04:12:39Z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